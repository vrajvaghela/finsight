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B2FF"/>
    <a:srgbClr val="538CFF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99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1828800" cy="1828800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840480"/>
            <a:ext cx="1097280" cy="109728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1920240" cy="292608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  HACKATHON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AI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Financial RAG  </a:t>
            </a: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document intelligence — Hybrid Retrieval · Voice AI · Grounded Citations · Auto-Evaluation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2011680" cy="868680"/>
          </a:xfrm>
          <a:prstGeom prst="rect">
            <a:avLst/>
          </a:prstGeom>
          <a:solidFill>
            <a:srgbClr val="0F1E3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43708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3931920"/>
            <a:ext cx="2011680" cy="868680"/>
          </a:xfrm>
          <a:prstGeom prst="rect">
            <a:avLst/>
          </a:prstGeom>
          <a:solidFill>
            <a:srgbClr val="0F1E35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9502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788920" y="43708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3931920"/>
            <a:ext cx="2011680" cy="868680"/>
          </a:xfrm>
          <a:prstGeom prst="rect">
            <a:avLst/>
          </a:prstGeom>
          <a:solidFill>
            <a:srgbClr val="0F1E3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9502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120640" y="43708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960120"/>
            <a:ext cx="2286000" cy="347472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</a:rPr>
              <a:t>TECH STACK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20840" y="141732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3624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170078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v2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1984248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19293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226771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2551176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496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Embeddings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28346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779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311810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Llama-3.3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0840" y="3401568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SDK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RAG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 for financial documents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1463040"/>
          </a:xfrm>
          <a:prstGeom prst="rect">
            <a:avLst/>
          </a:prstGeom>
          <a:solidFill>
            <a:srgbClr val="12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Text Chunking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 splits by character count — destroying financial tables, breaking mid-row, losing critical context.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743200" cy="1463040"/>
          </a:xfrm>
          <a:prstGeom prst="rect">
            <a:avLst/>
          </a:prstGeom>
          <a:solidFill>
            <a:srgbClr val="12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8016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 Retrieval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82496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Vector-only search misses exact keyword matches. BM25-only search misses semantic meaning. Both alone are inadequate.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743200" cy="1463040"/>
          </a:xfrm>
          <a:prstGeom prst="rect">
            <a:avLst/>
          </a:prstGeom>
          <a:solidFill>
            <a:srgbClr val="12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28016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 Guard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682496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blindly passes low-confidence chunks to the LLM, generating confident but fabricated financial figures.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2743200" cy="1463040"/>
          </a:xfrm>
          <a:prstGeom prst="rect">
            <a:avLst/>
          </a:prstGeom>
          <a:solidFill>
            <a:srgbClr val="12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8036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90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Verification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282696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verify where answers come from — a critical liability in finance where accuracy is non-negotiable.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743200" cy="1463040"/>
          </a:xfrm>
          <a:prstGeom prst="rect">
            <a:avLst/>
          </a:prstGeom>
          <a:solidFill>
            <a:srgbClr val="12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88036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990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Interface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282696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solution requires manual typing. No hands-free, real-time voice querying of financial documents exists.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2743200" cy="1463040"/>
          </a:xfrm>
          <a:prstGeom prst="rect">
            <a:avLst/>
          </a:prstGeom>
          <a:solidFill>
            <a:srgbClr val="12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88036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90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Metrics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282696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built-in evaluation. Developers have no way to measure if their RAG system is actually performing well.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AI vs Traditional RAG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feature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474720" cy="384048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   Feature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86200" y="1078992"/>
            <a:ext cx="2560320" cy="384048"/>
          </a:xfrm>
          <a:prstGeom prst="rect">
            <a:avLst/>
          </a:prstGeom>
          <a:solidFill>
            <a:srgbClr val="1A0A0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0789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  Traditional RAG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37960" y="1078992"/>
            <a:ext cx="2560320" cy="384048"/>
          </a:xfrm>
          <a:prstGeom prst="rect">
            <a:avLst/>
          </a:prstGeom>
          <a:solidFill>
            <a:srgbClr val="051A1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0789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  </a:t>
            </a:r>
            <a:r>
              <a:rPr lang="en-US" sz="1300" b="1" dirty="0" err="1">
                <a:solidFill>
                  <a:srgbClr val="10B981"/>
                </a:solidFill>
              </a:rPr>
              <a:t>FinSight</a:t>
            </a:r>
            <a:r>
              <a:rPr lang="en-US" sz="1300" b="1" dirty="0">
                <a:solidFill>
                  <a:srgbClr val="10B981"/>
                </a:solidFill>
              </a:rPr>
              <a:t> 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490472"/>
            <a:ext cx="34747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9047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1490472"/>
            <a:ext cx="25603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49047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text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1490472"/>
            <a:ext cx="25603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49047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Layout-aware Docling SDK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1920240"/>
            <a:ext cx="34747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9202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86200" y="1920240"/>
            <a:ext cx="25603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character count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1920240"/>
            <a:ext cx="25603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hierarchy + atomic tables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350008"/>
            <a:ext cx="34747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3500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Method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86200" y="2350008"/>
            <a:ext cx="25603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23500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only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2350008"/>
            <a:ext cx="25603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3500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Vector + BM25 fusion (RRF)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779776"/>
            <a:ext cx="34747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77977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Ranking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86200" y="2779776"/>
            <a:ext cx="25603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7797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cosine similarity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2779776"/>
            <a:ext cx="25603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7797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Cross-Encoder Reranking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209544"/>
            <a:ext cx="34747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20954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Control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886200" y="3209544"/>
            <a:ext cx="25603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77640" y="320954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37960" y="3209544"/>
            <a:ext cx="25603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320954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Gates + dynamic thresholds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3639312"/>
            <a:ext cx="34747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63931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Verification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886200" y="3639312"/>
            <a:ext cx="25603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77640" y="3639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citations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37960" y="3639312"/>
            <a:ext cx="25603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3639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citation badges + PDF explorer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4069080"/>
            <a:ext cx="34747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0690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Mode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886200" y="4069080"/>
            <a:ext cx="25603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7764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 only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37960" y="4069080"/>
            <a:ext cx="25603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(STT/TTS) + Barge-In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4498848"/>
            <a:ext cx="34747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4988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886200" y="4498848"/>
            <a:ext cx="25603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77640" y="44988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evaluation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537960" y="4498848"/>
            <a:ext cx="2560320" cy="411480"/>
          </a:xfrm>
          <a:prstGeom prst="rect">
            <a:avLst/>
          </a:prstGeom>
          <a:solidFill>
            <a:srgbClr val="0B1529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44988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LLM-as-Judge + MRR tracking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UNIQUE FEATURE #1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Retrieval Pipeline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retrieval with Hybrid Search + RRF + Neural Reranking — far beyond any basic RAG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1325880" cy="1371600"/>
          </a:xfrm>
          <a:prstGeom prst="rect">
            <a:avLst/>
          </a:prstGeom>
          <a:solidFill>
            <a:srgbClr val="0F1E35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63040"/>
            <a:ext cx="1325880" cy="32004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813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</a:rPr>
              <a:t>Section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</a:rPr>
              <a:t>Router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Predicts relevant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sections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45920" y="2084832"/>
            <a:ext cx="1371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002536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83080" y="1463040"/>
            <a:ext cx="1325880" cy="1371600"/>
          </a:xfrm>
          <a:prstGeom prst="rect">
            <a:avLst/>
          </a:prstGeom>
          <a:solidFill>
            <a:srgbClr val="0F1E35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1463040"/>
            <a:ext cx="1325880" cy="320040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4813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</a:rPr>
              <a:t>Session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</a:rPr>
              <a:t>Scoping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Biases retrieval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 conversation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2084832"/>
            <a:ext cx="1371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002536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463040"/>
            <a:ext cx="1325880" cy="1371600"/>
          </a:xfrm>
          <a:prstGeom prst="rect">
            <a:avLst/>
          </a:prstGeom>
          <a:solidFill>
            <a:srgbClr val="0F1E35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1463040"/>
            <a:ext cx="1325880" cy="32004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4813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4612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</a:rPr>
              <a:t>Hybrid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</a:rPr>
              <a:t>Retrieval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Vector + BM25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 parallel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084832"/>
            <a:ext cx="1371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002536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463040"/>
            <a:ext cx="1325880" cy="1371600"/>
          </a:xfrm>
          <a:prstGeom prst="rect">
            <a:avLst/>
          </a:prstGeom>
          <a:solidFill>
            <a:srgbClr val="0F1E3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1463040"/>
            <a:ext cx="132588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4813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0916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RRF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Merger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Reciprocal Rank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Fusion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2084832"/>
            <a:ext cx="1371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002536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1463040"/>
            <a:ext cx="1325880" cy="1371600"/>
          </a:xfrm>
          <a:prstGeom prst="rect">
            <a:avLst/>
          </a:prstGeom>
          <a:solidFill>
            <a:srgbClr val="0F1E3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146304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4813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7220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Neural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Reranker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Cross-encoder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re-scoring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98080" y="2084832"/>
            <a:ext cx="1371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2002536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35240" y="1463040"/>
            <a:ext cx="1325880" cy="1371600"/>
          </a:xfrm>
          <a:prstGeom prst="rect">
            <a:avLst/>
          </a:prstGeom>
          <a:solidFill>
            <a:srgbClr val="0F1E3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1463040"/>
            <a:ext cx="1325880" cy="32004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14813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3524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Refusal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Gate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3524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Confidence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threshold check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017520"/>
            <a:ext cx="8503920" cy="1737360"/>
          </a:xfrm>
          <a:prstGeom prst="rect">
            <a:avLst/>
          </a:prstGeom>
          <a:solidFill>
            <a:srgbClr val="0A1628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090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</a:rPr>
              <a:t>Why This Beats Traditional RAG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02920" y="347472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RAG: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embedding call → raw cosine score → send to LLM. No fusion, no reranking, no safety gate.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" y="376732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AI: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intelligent stages ensure only the most relevant, high-confidence context reaches the LLM.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405993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Hit Rate @ Recall@5 and 0.87 MRR — the correct chunk is almost always at rank #1.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UNIQUE FEATURE #2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Layout-Aware Document Ingestion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SDK extracts structural layout — tables stay intact, headings anchor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6523" y="1371600"/>
            <a:ext cx="4069080" cy="3474720"/>
          </a:xfrm>
          <a:prstGeom prst="rect">
            <a:avLst/>
          </a:prstGeom>
          <a:solidFill>
            <a:srgbClr val="12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80744"/>
            <a:ext cx="4069080" cy="34747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66"/>
                </a:solidFill>
              </a:rPr>
              <a:t>  Traditional Approach</a:t>
            </a:r>
            <a:endParaRPr lang="en-US" sz="1300" dirty="0">
              <a:solidFill>
                <a:srgbClr val="FF9966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856232"/>
            <a:ext cx="3703320" cy="347472"/>
          </a:xfrm>
          <a:prstGeom prst="rect">
            <a:avLst/>
          </a:prstGeom>
          <a:solidFill>
            <a:srgbClr val="180D0D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56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 Read raw PDF text (loses layout)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95144"/>
            <a:ext cx="3703320" cy="347472"/>
          </a:xfrm>
          <a:prstGeom prst="rect">
            <a:avLst/>
          </a:prstGeom>
          <a:solidFill>
            <a:srgbClr val="180D0D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95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 Split every 512 characters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734056"/>
            <a:ext cx="3703320" cy="347472"/>
          </a:xfrm>
          <a:prstGeom prst="rect">
            <a:avLst/>
          </a:prstGeom>
          <a:solidFill>
            <a:srgbClr val="2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340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</a:rPr>
              <a:t>⚠  Table row 3 …  | Revenue | $4.2B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72968"/>
            <a:ext cx="3703320" cy="347472"/>
          </a:xfrm>
          <a:prstGeom prst="rect">
            <a:avLst/>
          </a:prstGeom>
          <a:solidFill>
            <a:srgbClr val="2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72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</a:rPr>
              <a:t>⚠  …continues in next chunk mid-row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3703320" cy="347472"/>
          </a:xfrm>
          <a:prstGeom prst="rect">
            <a:avLst/>
          </a:prstGeom>
          <a:solidFill>
            <a:srgbClr val="180D0D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11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</a:rPr>
              <a:t>✗  Embed → store as generic blob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050792"/>
            <a:ext cx="3703320" cy="347472"/>
          </a:xfrm>
          <a:prstGeom prst="rect">
            <a:avLst/>
          </a:prstGeom>
          <a:solidFill>
            <a:srgbClr val="180D0D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50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</a:rPr>
              <a:t>✗  LLM gets fragmented, incomplete table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389888"/>
            <a:ext cx="4069080" cy="3474720"/>
          </a:xfrm>
          <a:prstGeom prst="rect">
            <a:avLst/>
          </a:prstGeom>
          <a:solidFill>
            <a:srgbClr val="08120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389888"/>
            <a:ext cx="4069080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8988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FinSight AI Approach</a:t>
            </a:r>
            <a:endParaRPr lang="en-US" sz="13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37760" y="1856232"/>
            <a:ext cx="3703320" cy="347472"/>
          </a:xfrm>
          <a:prstGeom prst="rect">
            <a:avLst/>
          </a:prstGeom>
          <a:solidFill>
            <a:srgbClr val="0D1A0D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856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</a:rPr>
              <a:t>→  Docling extracts layout primitives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295144"/>
            <a:ext cx="3703320" cy="347472"/>
          </a:xfrm>
          <a:prstGeom prst="rect">
            <a:avLst/>
          </a:prstGeom>
          <a:solidFill>
            <a:srgbClr val="0D1A0D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295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</a:rPr>
              <a:t>→  Identifies: headings, paragraphs, tables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2734056"/>
            <a:ext cx="3703320" cy="347472"/>
          </a:xfrm>
          <a:prstGeom prst="rect">
            <a:avLst/>
          </a:prstGeom>
          <a:solidFill>
            <a:srgbClr val="082A0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7340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</a:rPr>
              <a:t>✅  Table treated as atomic unit (intact)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3172968"/>
            <a:ext cx="3703320" cy="347472"/>
          </a:xfrm>
          <a:prstGeom prst="rect">
            <a:avLst/>
          </a:prstGeom>
          <a:solidFill>
            <a:srgbClr val="0D1A0D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172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</a:rPr>
              <a:t>→  StructuralChunker respects hierarchy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3611880"/>
            <a:ext cx="3703320" cy="347472"/>
          </a:xfrm>
          <a:prstGeom prst="rect">
            <a:avLst/>
          </a:prstGeom>
          <a:solidFill>
            <a:srgbClr val="0D1A0D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611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</a:rPr>
              <a:t>→  LLM enriches chunks with metadata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4050792"/>
            <a:ext cx="3703320" cy="347472"/>
          </a:xfrm>
          <a:prstGeom prst="rect">
            <a:avLst/>
          </a:prstGeom>
          <a:solidFill>
            <a:srgbClr val="0D1A0D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050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</a:rPr>
              <a:t>→  Dual indexed: Qdrant + BM25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6052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    VS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 &amp;  Grounded Citations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capabilities that no standard RAG system offers out-of-the-box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3749040"/>
          </a:xfrm>
          <a:prstGeom prst="rect">
            <a:avLst/>
          </a:prstGeom>
          <a:solidFill>
            <a:srgbClr val="0F1E35"/>
          </a:solidFill>
          <a:ln w="1270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206240" cy="36576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Real-Time Voice Interaction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28016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361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UNIQUE FEATURE #3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019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1579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audio streaming over WebSockets with real-time transcription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603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816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Auto-initiates RAG pipeline the moment you stop speaking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186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Barge-In 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AI response mid-playback — buffer clears instantly for new input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770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TTS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133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synthesizes and streams audio responses back in real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4206240" cy="3749040"/>
          </a:xfrm>
          <a:prstGeom prst="rect">
            <a:avLst/>
          </a:prstGeom>
          <a:solidFill>
            <a:srgbClr val="0F1E35"/>
          </a:solidFill>
          <a:ln w="12700">
            <a:solidFill>
              <a:srgbClr val="8B5CF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51560"/>
            <a:ext cx="4206240" cy="36576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51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B2FF"/>
                </a:solidFill>
              </a:rPr>
              <a:t>   Grounded Citation System</a:t>
            </a:r>
            <a:endParaRPr lang="en-US" sz="1400" dirty="0">
              <a:solidFill>
                <a:srgbClr val="8BB2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92040" y="1536192"/>
            <a:ext cx="128016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5361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UNIQUE FEATURE #4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92040" y="197510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9019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Citations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1579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[cite:pX:cY] markers pinpointing exact page &amp; chunk source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633472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5603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Badges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2816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parses citations into clickable highlighted badges in chat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29184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2186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Explorer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citation → PDF viewer jumps to exact highlighted snippet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950208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8770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Trust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4133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traceable — critical for financial due diligence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microservices — optimised for high-throughput &amp; low-latency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solidFill>
            <a:srgbClr val="0F1E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064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GenUI · Mermaid.js · Doc Explorer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25272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2527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Next.js App Router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25272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527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GenUI Router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25272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2527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Document Explorer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8503920" cy="868680"/>
          </a:xfrm>
          <a:prstGeom prst="rect">
            <a:avLst/>
          </a:prstGeom>
          <a:solidFill>
            <a:srgbClr val="0F1E35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11680"/>
            <a:ext cx="54864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66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359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v2 · JWT Auth · SSE Streaming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221284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2128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Chat &amp; Voice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21284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2128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Project 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21284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2128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Evaluation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971800"/>
            <a:ext cx="8503920" cy="868680"/>
          </a:xfrm>
          <a:prstGeom prst="rect">
            <a:avLst/>
          </a:prstGeom>
          <a:solidFill>
            <a:srgbClr val="0F1E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71800"/>
            <a:ext cx="54864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266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Retrieval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3192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· Hybrid Search · Neural Reranker · Refusal Gate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317296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31729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Celery Workers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17296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1729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Hybrid Retriever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317296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1729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Neural Reranker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" y="3927348"/>
            <a:ext cx="8503920" cy="868680"/>
          </a:xfrm>
          <a:prstGeom prst="rect">
            <a:avLst/>
          </a:prstGeom>
          <a:solidFill>
            <a:srgbClr val="0F1E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3192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986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42793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Qdrant Vector DB · S3 Storage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17520" y="413308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41330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0" y="413308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41330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Redis Cache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413308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891272" y="413308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732520" y="1883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32520" y="284378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732520" y="38039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52" name="Shape 39">
            <a:extLst>
              <a:ext uri="{FF2B5EF4-FFF2-40B4-BE49-F238E27FC236}">
                <a16:creationId xmlns:a16="http://schemas.microsoft.com/office/drawing/2014/main" id="{1996688A-885F-6601-00A4-DA530D65C89C}"/>
              </a:ext>
            </a:extLst>
          </p:cNvPr>
          <p:cNvSpPr/>
          <p:nvPr/>
        </p:nvSpPr>
        <p:spPr>
          <a:xfrm>
            <a:off x="6873240" y="4133088"/>
            <a:ext cx="1783080" cy="457200"/>
          </a:xfrm>
          <a:prstGeom prst="rect">
            <a:avLst/>
          </a:prstGeom>
          <a:solidFill>
            <a:srgbClr val="060D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40">
            <a:extLst>
              <a:ext uri="{FF2B5EF4-FFF2-40B4-BE49-F238E27FC236}">
                <a16:creationId xmlns:a16="http://schemas.microsoft.com/office/drawing/2014/main" id="{9C38CA8F-253A-1417-1670-A8B35DE15E20}"/>
              </a:ext>
            </a:extLst>
          </p:cNvPr>
          <p:cNvSpPr/>
          <p:nvPr/>
        </p:nvSpPr>
        <p:spPr>
          <a:xfrm>
            <a:off x="6873240" y="41330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Groq/Llama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Performance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using Llama-3.3 as automated judge  ·  Data from live evaluation suite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210312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Hit Rate / Recall@5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3591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Correct chunk found in top 5 — every single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52928"/>
            <a:ext cx="2377440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852928"/>
            <a:ext cx="237744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051560"/>
            <a:ext cx="2743200" cy="210312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051560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20700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264408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Mean Reciprocal Rank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23591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Correct answer at avg rank 1.1 — top of the list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47288" y="2852928"/>
            <a:ext cx="2377440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47288" y="2852928"/>
            <a:ext cx="2068373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051560"/>
            <a:ext cx="2743200" cy="2103120"/>
          </a:xfrm>
          <a:prstGeom prst="rect">
            <a:avLst/>
          </a:prstGeom>
          <a:solidFill>
            <a:srgbClr val="0F1E35"/>
          </a:solidFill>
          <a:ln w="12700">
            <a:solidFill>
              <a:srgbClr val="1A2E4A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105156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120700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50.9ms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208776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Avg Retrieval Latency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0216" y="23591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Fast sub-100ms pipeline — production ready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91656" y="2852928"/>
            <a:ext cx="2377440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1656" y="2852928"/>
            <a:ext cx="17830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3291840"/>
            <a:ext cx="8631936" cy="1760220"/>
          </a:xfrm>
          <a:prstGeom prst="rect">
            <a:avLst/>
          </a:prstGeom>
          <a:solidFill>
            <a:srgbClr val="0815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LLM-as-Judge Evaluation  (Llama-3.3 via Groq)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Automated RAG Evaluation Suite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70332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657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Faithfulness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" y="38953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LLM answer grounded in retrieved context — no invented facts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37560" y="370332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3657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Answer Relevance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47872" y="38953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Response directly addresses the user query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72200" y="370332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3657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Context Relevance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82512" y="38953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Retrieved chunks are on-topic and information-dense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 Rendering  &amp;  Auto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doesn't just answer — it generates interactive charts, tables &amp; self-evaluates quality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206240" cy="3794760"/>
          </a:xfrm>
          <a:prstGeom prst="rect">
            <a:avLst/>
          </a:prstGeom>
          <a:solidFill>
            <a:srgbClr val="0F1E35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4206240" cy="36576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   Generative UI (GenUI)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2801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UNIQUE FEATURE #5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840480" cy="566928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019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Dynamic Chart Rendering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121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LLM outputs JSON → frontend renders interactive bar/line charts from financial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3840480" cy="566928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60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Mermaid.js Diagrams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7797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AI generates system diagrams and financial flowcharts directly in the chat window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3840480" cy="566928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186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Rich Table Rendering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34381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Complex financial tables preserved and rendered with full markdown formatting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49624"/>
            <a:ext cx="3840480" cy="566928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770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Streaming Token-by-Token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0965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SSE streams the LLM response in real time — zero waiting for long analyses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024128"/>
            <a:ext cx="4206240" cy="3794760"/>
          </a:xfrm>
          <a:prstGeom prst="rect">
            <a:avLst/>
          </a:prstGeom>
          <a:solidFill>
            <a:srgbClr val="0F1E35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24128"/>
            <a:ext cx="4206240" cy="36576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24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  Automated RAG Evaluation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508760"/>
            <a:ext cx="12801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UNIQUE FEATURE #6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92040" y="1874520"/>
            <a:ext cx="3840480" cy="566928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9019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Faithfulness Score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2121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Measures if every claim in the answer is grounded in the retrieved source documents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2532888"/>
            <a:ext cx="3840480" cy="566928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560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Answer Relevance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0" y="27797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Evaluates if the response actually addresses what the user asked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3191256"/>
            <a:ext cx="3840480" cy="566928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2186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Context Relevance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0" y="34381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Checks if retrieved chunks are on-topic and not noisy or irrelevant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3849624"/>
            <a:ext cx="3840480" cy="566928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8770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MRR + Recall@K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0" y="40965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Tracks ranking quality — are the best chunks surfaced first in the retrieval list?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</a:rPr>
              <a:t>FinSight AI</a:t>
            </a:r>
            <a:r>
              <a:rPr lang="en-US" sz="1800" dirty="0">
                <a:solidFill>
                  <a:srgbClr val="CBD5E1"/>
                </a:solidFill>
              </a:rPr>
              <a:t>  —  Built for the Future of Financial Intelligence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1325880" cy="1005840"/>
          </a:xfrm>
          <a:prstGeom prst="rect">
            <a:avLst/>
          </a:prstGeom>
          <a:solidFill>
            <a:srgbClr val="0F1E35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3113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66F1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25420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Multi-Stage RAG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64792" y="2194560"/>
            <a:ext cx="1325880" cy="1005840"/>
          </a:xfrm>
          <a:prstGeom prst="rect">
            <a:avLst/>
          </a:prstGeom>
          <a:solidFill>
            <a:srgbClr val="0F1E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4792" y="223113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64792" y="25420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Layout-Aware Ingest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9544" y="2194560"/>
            <a:ext cx="1325880" cy="1005840"/>
          </a:xfrm>
          <a:prstGeom prst="rect">
            <a:avLst/>
          </a:prstGeom>
          <a:solidFill>
            <a:srgbClr val="0F1E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9544" y="223113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9544" y="25420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Voice + Barge-In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54296" y="2194560"/>
            <a:ext cx="1325880" cy="1005840"/>
          </a:xfrm>
          <a:prstGeom prst="rect">
            <a:avLst/>
          </a:prstGeom>
          <a:solidFill>
            <a:srgbClr val="0F1E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223113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54296" y="25420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Citation Explorer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99048" y="2194560"/>
            <a:ext cx="1325880" cy="1005840"/>
          </a:xfrm>
          <a:prstGeom prst="rect">
            <a:avLst/>
          </a:prstGeom>
          <a:solidFill>
            <a:srgbClr val="0F1E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223113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99048" y="25420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GenUI Rendering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43800" y="2194560"/>
            <a:ext cx="1325880" cy="1005840"/>
          </a:xfrm>
          <a:prstGeom prst="rect">
            <a:avLst/>
          </a:prstGeom>
          <a:solidFill>
            <a:srgbClr val="0F1E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223113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43800" y="25420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Auto Evaluation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01568"/>
            <a:ext cx="8229600" cy="5486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566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1440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Hit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3566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292608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MRR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566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50ms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93776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Latency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566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94944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Unique Features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Built with FastAPI · Next.js 15 · Qdrant · Docling · HuggingFace · Google Gemini · Groq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1105</Words>
  <Application>Microsoft Office PowerPoint</Application>
  <PresentationFormat>On-screen Show (16:9)</PresentationFormat>
  <Paragraphs>243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FinSight AI – Hackathon 2025</dc:title>
  <dc:subject>PptxGenJS Presentation</dc:subject>
  <dc:creator>PptxGenJS</dc:creator>
  <cp:lastModifiedBy>nikchhasiaya0407@gmail.com</cp:lastModifiedBy>
  <cp:revision>3</cp:revision>
  <dcterms:created xsi:type="dcterms:W3CDTF">2026-05-04T03:47:26Z</dcterms:created>
  <dcterms:modified xsi:type="dcterms:W3CDTF">2026-05-04T04:02:01Z</dcterms:modified>
</cp:coreProperties>
</file>